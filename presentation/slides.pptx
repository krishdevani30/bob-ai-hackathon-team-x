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62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389120"/>
            <a:ext cx="5029200" cy="5029200"/>
          </a:xfrm>
          <a:prstGeom prst="ellipse">
            <a:avLst/>
          </a:prstGeom>
          <a:solidFill>
            <a:srgbClr val="48CAE4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RISK MONITOR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Trial Risk Monitor </a:t>
            </a:r>
            <a:pPr algn="l" indent="0" marL="0">
              <a:buNone/>
            </a:pPr>
            <a:r>
              <a:rPr lang="en-US" sz="4800" b="1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(CTRM)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977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deviation detection, watsonx-powered severity scoring, and automated CAPA generation for safer, faster clinical trials.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5074920"/>
            <a:ext cx="3063240" cy="640080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 w="15875">
            <a:solidFill>
              <a:srgbClr val="006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5074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TEAM-X   |   AI TRACK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Trials Face Growing Risk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CTRM  ·  TEAM-X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1C2541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0062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1612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08483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Deviations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889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often go undetected until it's too late to intervene.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1C2541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103120"/>
            <a:ext cx="566928" cy="566928"/>
          </a:xfrm>
          <a:prstGeom prst="ellipse">
            <a:avLst/>
          </a:prstGeom>
          <a:solidFill>
            <a:srgbClr val="0062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</a:t>
            </a:r>
            <a:endParaRPr lang="en-US" sz="1612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08483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Safety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7889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deviations put participant safety and data integrity at risk.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1C2541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0062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</a:t>
            </a:r>
            <a:endParaRPr lang="en-US" sz="1612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41655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Delays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1206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slows reviews and delays critical trial timelines.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35040" y="416052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1C2541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4434840"/>
            <a:ext cx="566928" cy="566928"/>
          </a:xfrm>
          <a:prstGeom prst="ellipse">
            <a:avLst/>
          </a:prstGeom>
          <a:solidFill>
            <a:srgbClr val="0062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612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41655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Penalties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51206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 exposes sponsors to costly fines and audit failures.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SOLUTION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CTRM Solves It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CTRM  ·  TEAM-X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C2541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B132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1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99339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Deviation Detection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45059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continuously scans trial data streams to flag protocol deviations the moment they occur — no manual review bottleneck.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410712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232F52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685032"/>
            <a:ext cx="777240" cy="777240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6850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B132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1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57530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watsonx Severity Scoring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4032504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detected deviation is scored for severity using IBM watsonx.ai, ranking risk so teams act on what matters most first.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992624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C2541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266944"/>
            <a:ext cx="777240" cy="777240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26694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dirty="0">
                <a:solidFill>
                  <a:srgbClr val="0B132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21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515721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CAPA Generation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5614416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and Preventive Action reports are generated automatically — audit-ready, in DOCX and PDF, in minutes not days.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ARCHITECTURE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CTRM  ·  TEAM-X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98068" y="2331720"/>
            <a:ext cx="1783080" cy="2286000"/>
          </a:xfrm>
          <a:prstGeom prst="roundRect">
            <a:avLst>
              <a:gd name="adj" fmla="val 4615"/>
            </a:avLst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2660" y="2468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23848" y="2834640"/>
            <a:ext cx="731520" cy="731520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2384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B132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📥</a:t>
            </a:r>
            <a:endParaRPr lang="en-US" sz="2080" dirty="0"/>
          </a:p>
        </p:txBody>
      </p:sp>
      <p:sp>
        <p:nvSpPr>
          <p:cNvPr id="10" name="Text 8"/>
          <p:cNvSpPr txBox="1"/>
          <p:nvPr/>
        </p:nvSpPr>
        <p:spPr>
          <a:xfrm>
            <a:off x="1107796" y="374904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81148" y="31546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101188" y="2331720"/>
            <a:ext cx="1783080" cy="2286000"/>
          </a:xfrm>
          <a:prstGeom prst="roundRect">
            <a:avLst>
              <a:gd name="adj" fmla="val 4615"/>
            </a:avLst>
          </a:prstGeom>
          <a:solidFill>
            <a:srgbClr val="1C2541"/>
          </a:solidFill>
          <a:ln w="19050">
            <a:solidFill>
              <a:srgbClr val="0062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65780" y="2468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26968" y="2834640"/>
            <a:ext cx="731520" cy="731520"/>
          </a:xfrm>
          <a:prstGeom prst="ellipse">
            <a:avLst/>
          </a:prstGeom>
          <a:solidFill>
            <a:srgbClr val="0062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2696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B132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080" dirty="0"/>
          </a:p>
        </p:txBody>
      </p:sp>
      <p:sp>
        <p:nvSpPr>
          <p:cNvPr id="16" name="Text 14"/>
          <p:cNvSpPr txBox="1"/>
          <p:nvPr/>
        </p:nvSpPr>
        <p:spPr>
          <a:xfrm>
            <a:off x="3210916" y="374904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84268" y="31546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204308" y="2331720"/>
            <a:ext cx="1783080" cy="2286000"/>
          </a:xfrm>
          <a:prstGeom prst="roundRect">
            <a:avLst>
              <a:gd name="adj" fmla="val 4615"/>
            </a:avLst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68900" y="2468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30088" y="2834640"/>
            <a:ext cx="731520" cy="731520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3008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B132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080" dirty="0"/>
          </a:p>
        </p:txBody>
      </p:sp>
      <p:sp>
        <p:nvSpPr>
          <p:cNvPr id="22" name="Text 20"/>
          <p:cNvSpPr txBox="1"/>
          <p:nvPr/>
        </p:nvSpPr>
        <p:spPr>
          <a:xfrm>
            <a:off x="5314036" y="374904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LLM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87388" y="31546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7307428" y="2331720"/>
            <a:ext cx="1783080" cy="2286000"/>
          </a:xfrm>
          <a:prstGeom prst="roundRect">
            <a:avLst>
              <a:gd name="adj" fmla="val 4615"/>
            </a:avLst>
          </a:prstGeom>
          <a:solidFill>
            <a:srgbClr val="1C2541"/>
          </a:solidFill>
          <a:ln w="19050">
            <a:solidFill>
              <a:srgbClr val="0062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72020" y="2468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833208" y="2834640"/>
            <a:ext cx="731520" cy="731520"/>
          </a:xfrm>
          <a:prstGeom prst="ellipse">
            <a:avLst/>
          </a:prstGeom>
          <a:solidFill>
            <a:srgbClr val="0062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3320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B132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080" dirty="0"/>
          </a:p>
        </p:txBody>
      </p:sp>
      <p:sp>
        <p:nvSpPr>
          <p:cNvPr id="28" name="Text 26"/>
          <p:cNvSpPr txBox="1"/>
          <p:nvPr/>
        </p:nvSpPr>
        <p:spPr>
          <a:xfrm>
            <a:off x="7417156" y="374904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090508" y="31546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9410548" y="2331720"/>
            <a:ext cx="1783080" cy="2286000"/>
          </a:xfrm>
          <a:prstGeom prst="roundRect">
            <a:avLst>
              <a:gd name="adj" fmla="val 4615"/>
            </a:avLst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75140" y="2468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936328" y="2834640"/>
            <a:ext cx="731520" cy="731520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93632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B132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80" dirty="0"/>
          </a:p>
        </p:txBody>
      </p:sp>
      <p:sp>
        <p:nvSpPr>
          <p:cNvPr id="34" name="Text 32"/>
          <p:cNvSpPr txBox="1"/>
          <p:nvPr/>
        </p:nvSpPr>
        <p:spPr>
          <a:xfrm>
            <a:off x="9520276" y="374904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Export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" y="50749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trial data flows through detection and AI-driven scoring to a compliance-ready dashboard.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FEATURES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CTRM  ·  TEAM-X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1C2541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B132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📐</a:t>
            </a:r>
            <a:endParaRPr lang="en-US" sz="1612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08483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889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deviation risk across every active trial site in real time.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1C2541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103120"/>
            <a:ext cx="566928" cy="566928"/>
          </a:xfrm>
          <a:prstGeom prst="ellipse">
            <a:avLst/>
          </a:prstGeom>
          <a:solidFill>
            <a:srgbClr val="0062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B132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612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08483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Re-Weighting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7889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automatically re-weight as new trial data arrives.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1C2541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B132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612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41655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Severity Classification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1206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watsonx-driven classification ranks deviation severity instantly.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35040" y="416052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1C2541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4434840"/>
            <a:ext cx="566928" cy="566928"/>
          </a:xfrm>
          <a:prstGeom prst="ellipse">
            <a:avLst/>
          </a:prstGeom>
          <a:solidFill>
            <a:srgbClr val="0062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0B132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📑</a:t>
            </a:r>
            <a:endParaRPr lang="en-US" sz="1612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41655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Generation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51206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audit-ready CAPA reports in DOCX and PDF formats.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TECH STACK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IBM Technology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CTRM  ·  TEAM-X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3749040"/>
          </a:xfrm>
          <a:prstGeom prst="roundRect">
            <a:avLst>
              <a:gd name="adj" fmla="val 2195"/>
            </a:avLst>
          </a:prstGeom>
          <a:solidFill>
            <a:srgbClr val="1C2541"/>
          </a:solidFill>
          <a:ln w="19050">
            <a:solidFill>
              <a:srgbClr val="006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286000"/>
            <a:ext cx="868680" cy="868680"/>
          </a:xfrm>
          <a:prstGeom prst="ellipse">
            <a:avLst/>
          </a:prstGeom>
          <a:solidFill>
            <a:srgbClr val="0062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47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832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watsonx.ai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8862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Foundation Models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38912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automated deviation detection and AI-based severity scoring, fine-tuned for clinical trial documentation and terminology.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1874520"/>
            <a:ext cx="5349240" cy="3749040"/>
          </a:xfrm>
          <a:prstGeom prst="roundRect">
            <a:avLst>
              <a:gd name="adj" fmla="val 2195"/>
            </a:avLst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2286000"/>
            <a:ext cx="868680" cy="868680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B132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</a:t>
            </a:r>
            <a:endParaRPr lang="en-US" sz="247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3832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Cloud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38862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Healthcare-Grade Compliance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438912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secure, scalable infrastructure that meets healthcare data regulations for hosting trial data and audit trails.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IMPACT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Results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CTRM  ·  TEAM-X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2316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5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Deviation Detection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1C2541"/>
          </a:solidFill>
          <a:ln w="19050">
            <a:solidFill>
              <a:srgbClr val="006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242316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6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749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Risk Mitigation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42316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749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CTRM shifts clinical trial oversight from reactive review to proactive, AI-driven risk mitigation.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TEAM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Team-X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CTRM  ·  TEAM-X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7736" y="196596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1C2541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4976" y="2377440"/>
            <a:ext cx="960120" cy="960120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04976" y="23774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64896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 Devani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64896" y="4297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34944" y="196596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1C2541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12184" y="2377440"/>
            <a:ext cx="960120" cy="960120"/>
          </a:xfrm>
          <a:prstGeom prst="ellipse">
            <a:avLst/>
          </a:prstGeom>
          <a:solidFill>
            <a:srgbClr val="0062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12184" y="23774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572104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Diyora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72104" y="4297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2152" y="196596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1C2541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19392" y="2377440"/>
            <a:ext cx="960120" cy="960120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19392" y="23774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379312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Dhruv Gabani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79312" y="4297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49360" y="196596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1C2541"/>
          </a:solidFill>
          <a:ln w="12700">
            <a:solidFill>
              <a:srgbClr val="2E3A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26600" y="2377440"/>
            <a:ext cx="960120" cy="960120"/>
          </a:xfrm>
          <a:prstGeom prst="ellipse">
            <a:avLst/>
          </a:prstGeom>
          <a:solidFill>
            <a:srgbClr val="0062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26600" y="23774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18652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Dishant Nakrani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86520" y="4297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7C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Track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2026-09-15T15:36:15Z</dcterms:created>
  <dcterms:modified xsi:type="dcterms:W3CDTF">2026-09-15T15:36:15Z</dcterms:modified>
</cp:coreProperties>
</file>